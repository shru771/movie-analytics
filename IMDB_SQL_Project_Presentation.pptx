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2"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92" d="100"/>
          <a:sy n="92" d="100"/>
        </p:scale>
        <p:origin x="1292" y="75"/>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8" name="Group 17"/>
          <p:cNvGrpSpPr/>
          <p:nvPr/>
        </p:nvGrpSpPr>
        <p:grpSpPr>
          <a:xfrm>
            <a:off x="0" y="0"/>
            <a:ext cx="9144677" cy="6858000"/>
            <a:chOff x="0" y="0"/>
            <a:chExt cx="9144677" cy="6858000"/>
          </a:xfrm>
        </p:grpSpPr>
        <p:pic>
          <p:nvPicPr>
            <p:cNvPr id="8" name="Picture 7" descr="SD-PanelTitle-R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11" name="Rectangle 10"/>
            <p:cNvSpPr/>
            <p:nvPr/>
          </p:nvSpPr>
          <p:spPr>
            <a:xfrm>
              <a:off x="1515532" y="1520422"/>
              <a:ext cx="6112935" cy="3818468"/>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2" name="Picture 11"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l="-2" r="47959"/>
            <a:stretch/>
          </p:blipFill>
          <p:spPr>
            <a:xfrm>
              <a:off x="0" y="3128434"/>
              <a:ext cx="1664208" cy="612648"/>
            </a:xfrm>
            <a:prstGeom prst="rect">
              <a:avLst/>
            </a:prstGeom>
          </p:spPr>
        </p:pic>
        <p:pic>
          <p:nvPicPr>
            <p:cNvPr id="13" name="Picture 12"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l="-2" r="47959"/>
            <a:stretch/>
          </p:blipFill>
          <p:spPr>
            <a:xfrm>
              <a:off x="7480469" y="3128434"/>
              <a:ext cx="1664208" cy="612648"/>
            </a:xfrm>
            <a:prstGeom prst="rect">
              <a:avLst/>
            </a:prstGeom>
          </p:spPr>
        </p:pic>
      </p:grpSp>
      <p:sp>
        <p:nvSpPr>
          <p:cNvPr id="2" name="Title 1"/>
          <p:cNvSpPr>
            <a:spLocks noGrp="1"/>
          </p:cNvSpPr>
          <p:nvPr>
            <p:ph type="ctrTitle"/>
          </p:nvPr>
        </p:nvSpPr>
        <p:spPr>
          <a:xfrm>
            <a:off x="1921934" y="1811863"/>
            <a:ext cx="5308866" cy="1515533"/>
          </a:xfrm>
        </p:spPr>
        <p:txBody>
          <a:bodyPr anchor="b">
            <a:noAutofit/>
          </a:bodyPr>
          <a:lstStyle>
            <a:lvl1pPr algn="ctr">
              <a:defRPr sz="4800">
                <a:effectLst/>
              </a:defRPr>
            </a:lvl1pPr>
          </a:lstStyle>
          <a:p>
            <a:r>
              <a:rPr lang="en-US"/>
              <a:t>Click to edit Master title style</a:t>
            </a:r>
            <a:endParaRPr lang="en-US" dirty="0"/>
          </a:p>
        </p:txBody>
      </p:sp>
      <p:sp>
        <p:nvSpPr>
          <p:cNvPr id="3" name="Subtitle 2"/>
          <p:cNvSpPr>
            <a:spLocks noGrp="1"/>
          </p:cNvSpPr>
          <p:nvPr>
            <p:ph type="subTitle" idx="1"/>
          </p:nvPr>
        </p:nvSpPr>
        <p:spPr>
          <a:xfrm>
            <a:off x="1921934" y="3598327"/>
            <a:ext cx="5308866" cy="1377651"/>
          </a:xfrm>
        </p:spPr>
        <p:txBody>
          <a:bodyPr anchor="t">
            <a:normAutofit/>
          </a:bodyPr>
          <a:lstStyle>
            <a:lvl1pPr marL="0" indent="0" algn="ctr">
              <a:buNone/>
              <a:defRPr sz="20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6065417" y="5054602"/>
            <a:ext cx="673276" cy="279400"/>
          </a:xfrm>
        </p:spPr>
        <p:txBody>
          <a:bodyPr/>
          <a:lstStyle/>
          <a:p>
            <a:fld id="{5BCAD085-E8A6-8845-BD4E-CB4CCA059FC4}" type="datetimeFigureOut">
              <a:rPr lang="en-US" smtClean="0"/>
              <a:t>26-05-26</a:t>
            </a:fld>
            <a:endParaRPr lang="en-US"/>
          </a:p>
        </p:txBody>
      </p:sp>
      <p:sp>
        <p:nvSpPr>
          <p:cNvPr id="5" name="Footer Placeholder 4"/>
          <p:cNvSpPr>
            <a:spLocks noGrp="1"/>
          </p:cNvSpPr>
          <p:nvPr>
            <p:ph type="ftr" sz="quarter" idx="11"/>
          </p:nvPr>
        </p:nvSpPr>
        <p:spPr>
          <a:xfrm>
            <a:off x="1921934" y="5054602"/>
            <a:ext cx="4064860" cy="279400"/>
          </a:xfrm>
        </p:spPr>
        <p:txBody>
          <a:bodyPr/>
          <a:lstStyle/>
          <a:p>
            <a:endParaRPr lang="en-US"/>
          </a:p>
        </p:txBody>
      </p:sp>
      <p:sp>
        <p:nvSpPr>
          <p:cNvPr id="6" name="Slide Number Placeholder 5"/>
          <p:cNvSpPr>
            <a:spLocks noGrp="1"/>
          </p:cNvSpPr>
          <p:nvPr>
            <p:ph type="sldNum" sz="quarter" idx="12"/>
          </p:nvPr>
        </p:nvSpPr>
        <p:spPr>
          <a:xfrm>
            <a:off x="6817317" y="5054602"/>
            <a:ext cx="413483" cy="279400"/>
          </a:xfrm>
        </p:spPr>
        <p:txBody>
          <a:bodyPr/>
          <a:lstStyle/>
          <a:p>
            <a:fld id="{C1FF6DA9-008F-8B48-92A6-B652298478BF}" type="slidenum">
              <a:rPr lang="en-US" smtClean="0"/>
              <a:t>‹#›</a:t>
            </a:fld>
            <a:endParaRPr lang="en-US"/>
          </a:p>
        </p:txBody>
      </p:sp>
      <p:cxnSp>
        <p:nvCxnSpPr>
          <p:cNvPr id="15" name="Straight Connector 14"/>
          <p:cNvCxnSpPr/>
          <p:nvPr/>
        </p:nvCxnSpPr>
        <p:spPr>
          <a:xfrm>
            <a:off x="2019825" y="3471329"/>
            <a:ext cx="5113083"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9149355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7" name="Straight Connector 6"/>
          <p:cNvCxnSpPr/>
          <p:nvPr/>
        </p:nvCxnSpPr>
        <p:spPr>
          <a:xfrm>
            <a:off x="1278465" y="2356260"/>
            <a:ext cx="6595534"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26-05-26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3883493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78465" y="1641413"/>
            <a:ext cx="6595534" cy="1822514"/>
          </a:xfrm>
        </p:spPr>
        <p:txBody>
          <a:bodyPr anchor="b">
            <a:normAutofit/>
          </a:bodyPr>
          <a:lstStyle>
            <a:lvl1pPr algn="ct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278465" y="3734859"/>
            <a:ext cx="6595534" cy="1090015"/>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26-05-26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cxnSp>
        <p:nvCxnSpPr>
          <p:cNvPr id="31" name="Straight Connector 30"/>
          <p:cNvCxnSpPr/>
          <p:nvPr/>
        </p:nvCxnSpPr>
        <p:spPr>
          <a:xfrm>
            <a:off x="1278466" y="3599392"/>
            <a:ext cx="6595533"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3947513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cxnSp>
        <p:nvCxnSpPr>
          <p:cNvPr id="8" name="Straight Connector 7"/>
          <p:cNvCxnSpPr/>
          <p:nvPr/>
        </p:nvCxnSpPr>
        <p:spPr>
          <a:xfrm>
            <a:off x="1278465" y="2356260"/>
            <a:ext cx="6595534"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a:xfrm>
            <a:off x="1176866" y="915337"/>
            <a:ext cx="6798734" cy="130386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176866" y="2487168"/>
            <a:ext cx="3337560" cy="344728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45152" y="2487168"/>
            <a:ext cx="3337560" cy="344728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26-05-26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72340875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76868" y="2658533"/>
            <a:ext cx="3337560"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76868" y="3243263"/>
            <a:ext cx="3337560" cy="2706624"/>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41832" y="2658533"/>
            <a:ext cx="3337560"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1832" y="3243263"/>
            <a:ext cx="3337560" cy="2706624"/>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26-05-26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cxnSp>
        <p:nvCxnSpPr>
          <p:cNvPr id="41" name="Straight Connector 40"/>
          <p:cNvCxnSpPr/>
          <p:nvPr/>
        </p:nvCxnSpPr>
        <p:spPr>
          <a:xfrm>
            <a:off x="1278466" y="2354670"/>
            <a:ext cx="6595534"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9345561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176865" y="915337"/>
            <a:ext cx="6798735" cy="1303867"/>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BCAD085-E8A6-8845-BD4E-CB4CCA059FC4}" type="datetimeFigureOut">
              <a:rPr lang="en-US" smtClean="0"/>
              <a:t>26-05-26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cxnSp>
        <p:nvCxnSpPr>
          <p:cNvPr id="14" name="Straight Connector 13"/>
          <p:cNvCxnSpPr/>
          <p:nvPr/>
        </p:nvCxnSpPr>
        <p:spPr>
          <a:xfrm>
            <a:off x="1278466" y="2354670"/>
            <a:ext cx="6595534"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6228757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26-05-26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3995750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76865" y="1388534"/>
            <a:ext cx="2536798"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4120062" y="982132"/>
            <a:ext cx="3855539" cy="4893735"/>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76865" y="3031065"/>
            <a:ext cx="2536798"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26-05-26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cxnSp>
        <p:nvCxnSpPr>
          <p:cNvPr id="16" name="Straight Connector 15"/>
          <p:cNvCxnSpPr/>
          <p:nvPr/>
        </p:nvCxnSpPr>
        <p:spPr>
          <a:xfrm>
            <a:off x="1278466" y="2912533"/>
            <a:ext cx="2333594"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548591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76865" y="1883832"/>
            <a:ext cx="3632202" cy="1371600"/>
          </a:xfrm>
        </p:spPr>
        <p:txBody>
          <a:bodyPr anchor="b">
            <a:normAutofit/>
          </a:bodyPr>
          <a:lstStyle>
            <a:lvl1pPr algn="ctr">
              <a:defRPr sz="2400" b="0"/>
            </a:lvl1pPr>
          </a:lstStyle>
          <a:p>
            <a:r>
              <a:rPr lang="en-US"/>
              <a:t>Click to edit Master title style</a:t>
            </a:r>
            <a:endParaRPr lang="en-US" dirty="0"/>
          </a:p>
        </p:txBody>
      </p:sp>
      <p:sp>
        <p:nvSpPr>
          <p:cNvPr id="17" name="Picture Placeholder 2"/>
          <p:cNvSpPr>
            <a:spLocks noGrp="1" noChangeAspect="1"/>
          </p:cNvSpPr>
          <p:nvPr>
            <p:ph type="pic" idx="1"/>
          </p:nvPr>
        </p:nvSpPr>
        <p:spPr>
          <a:xfrm>
            <a:off x="5183069" y="1032933"/>
            <a:ext cx="2929463" cy="4792136"/>
          </a:xfrm>
          <a:prstGeom prst="roundRect">
            <a:avLst>
              <a:gd name="adj" fmla="val 0"/>
            </a:avLst>
          </a:prstGeom>
          <a:ln w="57150" cmpd="thickThin">
            <a:solidFill>
              <a:schemeClr val="tx1">
                <a:lumMod val="50000"/>
                <a:lumOff val="5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76865" y="3255432"/>
            <a:ext cx="3632201" cy="1828800"/>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26-05-26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19629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76866" y="4815415"/>
            <a:ext cx="6798734"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026260" y="1032933"/>
            <a:ext cx="7091482" cy="3361269"/>
          </a:xfrm>
          <a:prstGeom prst="roundRect">
            <a:avLst>
              <a:gd name="adj" fmla="val 0"/>
            </a:avLst>
          </a:prstGeom>
          <a:ln w="57150" cmpd="thickThin">
            <a:solidFill>
              <a:schemeClr val="tx1">
                <a:lumMod val="50000"/>
                <a:lumOff val="5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76866" y="5382153"/>
            <a:ext cx="6798734" cy="493712"/>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26-05-26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5428439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76866" y="906873"/>
            <a:ext cx="6798734" cy="3097860"/>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176865" y="4275666"/>
            <a:ext cx="6798736" cy="1600202"/>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26-05-26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cxnSp>
        <p:nvCxnSpPr>
          <p:cNvPr id="15" name="Straight Connector 14"/>
          <p:cNvCxnSpPr/>
          <p:nvPr/>
        </p:nvCxnSpPr>
        <p:spPr>
          <a:xfrm>
            <a:off x="1278465" y="4140199"/>
            <a:ext cx="6606425"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50724106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334333" y="982132"/>
            <a:ext cx="6400250" cy="2370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600200" y="3352799"/>
            <a:ext cx="5892798" cy="651933"/>
          </a:xfrm>
        </p:spPr>
        <p:txBody>
          <a:bodyPr anchor="ctr">
            <a:normAutofit/>
          </a:bodyPr>
          <a:lstStyle>
            <a:lvl1pPr marL="0" indent="0" algn="r">
              <a:buFontTx/>
              <a:buNone/>
              <a:defRPr sz="18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176863" y="4343400"/>
            <a:ext cx="6798738"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26-05-26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
        <p:nvSpPr>
          <p:cNvPr id="14" name="TextBox 13"/>
          <p:cNvSpPr txBox="1"/>
          <p:nvPr/>
        </p:nvSpPr>
        <p:spPr>
          <a:xfrm>
            <a:off x="849969" y="905362"/>
            <a:ext cx="457319" cy="584776"/>
          </a:xfrm>
          <a:prstGeom prst="rect">
            <a:avLst/>
          </a:prstGeom>
        </p:spPr>
        <p:txBody>
          <a:bodyPr vert="horz" lIns="91440" tIns="45720" rIns="91440" bIns="45720" rtlCol="0" anchor="ctr">
            <a:noAutofit/>
          </a:bodyPr>
          <a:lstStyle/>
          <a:p>
            <a:pPr lvl="0"/>
            <a:r>
              <a:rPr lang="en-US" sz="7200" dirty="0">
                <a:solidFill>
                  <a:schemeClr val="tx1"/>
                </a:solidFill>
                <a:effectLst/>
              </a:rPr>
              <a:t>“</a:t>
            </a:r>
          </a:p>
        </p:txBody>
      </p:sp>
      <p:sp>
        <p:nvSpPr>
          <p:cNvPr id="15" name="TextBox 14"/>
          <p:cNvSpPr txBox="1"/>
          <p:nvPr/>
        </p:nvSpPr>
        <p:spPr>
          <a:xfrm>
            <a:off x="7633503" y="2827870"/>
            <a:ext cx="457319" cy="584776"/>
          </a:xfrm>
          <a:prstGeom prst="rect">
            <a:avLst/>
          </a:prstGeom>
        </p:spPr>
        <p:txBody>
          <a:bodyPr vert="horz" lIns="91440" tIns="45720" rIns="91440" bIns="45720" rtlCol="0" anchor="ctr">
            <a:noAutofit/>
          </a:bodyPr>
          <a:lstStyle/>
          <a:p>
            <a:pPr lvl="0" algn="r"/>
            <a:r>
              <a:rPr lang="en-US" sz="7200" dirty="0">
                <a:solidFill>
                  <a:schemeClr val="tx1"/>
                </a:solidFill>
                <a:effectLst/>
              </a:rPr>
              <a:t>”</a:t>
            </a:r>
          </a:p>
        </p:txBody>
      </p:sp>
      <p:cxnSp>
        <p:nvCxnSpPr>
          <p:cNvPr id="19" name="Straight Connector 18"/>
          <p:cNvCxnSpPr/>
          <p:nvPr/>
        </p:nvCxnSpPr>
        <p:spPr>
          <a:xfrm>
            <a:off x="1278466" y="4140199"/>
            <a:ext cx="6595534"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44680546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76869" y="3308581"/>
            <a:ext cx="6798728"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176868" y="4777381"/>
            <a:ext cx="6798730" cy="8604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26-05-26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07800327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409416" y="982132"/>
            <a:ext cx="6325168" cy="2243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8" name="Text Placeholder 2"/>
          <p:cNvSpPr>
            <a:spLocks noGrp="1"/>
          </p:cNvSpPr>
          <p:nvPr>
            <p:ph type="body" idx="13"/>
          </p:nvPr>
        </p:nvSpPr>
        <p:spPr>
          <a:xfrm>
            <a:off x="1176868" y="3639312"/>
            <a:ext cx="6798730" cy="886968"/>
          </a:xfrm>
        </p:spPr>
        <p:txBody>
          <a:bodyPr anchor="b">
            <a:normAutofit/>
          </a:bodyPr>
          <a:lstStyle>
            <a:lvl1pPr marL="0" indent="0" algn="l">
              <a:spcBef>
                <a:spcPts val="0"/>
              </a:spcBef>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176865" y="4529667"/>
            <a:ext cx="6798736" cy="1346200"/>
          </a:xfrm>
        </p:spPr>
        <p:txBody>
          <a:bodyPr anchor="t">
            <a:normAutofit/>
          </a:bodyPr>
          <a:lstStyle>
            <a:lvl1pPr marL="0" indent="0" algn="l">
              <a:buNone/>
              <a:defRPr sz="1600">
                <a:solidFill>
                  <a:schemeClr val="tx1"/>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26-05-26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
        <p:nvSpPr>
          <p:cNvPr id="12" name="TextBox 11"/>
          <p:cNvSpPr txBox="1"/>
          <p:nvPr/>
        </p:nvSpPr>
        <p:spPr>
          <a:xfrm>
            <a:off x="878060" y="896895"/>
            <a:ext cx="457319"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3" name="TextBox 12"/>
          <p:cNvSpPr txBox="1"/>
          <p:nvPr/>
        </p:nvSpPr>
        <p:spPr>
          <a:xfrm>
            <a:off x="7649796" y="2607728"/>
            <a:ext cx="457319"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26" name="Straight Connector 25"/>
          <p:cNvCxnSpPr/>
          <p:nvPr/>
        </p:nvCxnSpPr>
        <p:spPr>
          <a:xfrm>
            <a:off x="1278466" y="3429000"/>
            <a:ext cx="6595534"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29268333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176865" y="982131"/>
            <a:ext cx="6798734" cy="2294467"/>
          </a:xfrm>
        </p:spPr>
        <p:txBody>
          <a:bodyPr vert="horz" lIns="91440" tIns="45720" rIns="91440" bIns="45720" rtlCol="0" anchor="ctr">
            <a:normAutofit/>
          </a:bodyPr>
          <a:lstStyle>
            <a:lvl1pPr>
              <a:defRPr lang="en-US" sz="3200" b="0" dirty="0"/>
            </a:lvl1pPr>
          </a:lstStyle>
          <a:p>
            <a:pPr marL="0" lvl="0"/>
            <a:r>
              <a:rPr lang="en-US"/>
              <a:t>Click to edit Master title style</a:t>
            </a:r>
            <a:endParaRPr lang="en-US" dirty="0"/>
          </a:p>
        </p:txBody>
      </p:sp>
      <p:sp>
        <p:nvSpPr>
          <p:cNvPr id="14" name="Text Placeholder 2"/>
          <p:cNvSpPr>
            <a:spLocks noGrp="1"/>
          </p:cNvSpPr>
          <p:nvPr>
            <p:ph type="body" idx="13"/>
          </p:nvPr>
        </p:nvSpPr>
        <p:spPr>
          <a:xfrm>
            <a:off x="1176868" y="3566160"/>
            <a:ext cx="6798730" cy="905256"/>
          </a:xfrm>
        </p:spPr>
        <p:txBody>
          <a:bodyPr anchor="b">
            <a:normAutofit/>
          </a:bodyPr>
          <a:lstStyle>
            <a:lvl1pPr marL="0" indent="0" algn="l">
              <a:spcBef>
                <a:spcPts val="0"/>
              </a:spcBef>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176866" y="4470400"/>
            <a:ext cx="6798734" cy="1405467"/>
          </a:xfrm>
        </p:spPr>
        <p:txBody>
          <a:bodyPr anchor="t">
            <a:normAutofit/>
          </a:bodyPr>
          <a:lstStyle>
            <a:lvl1pPr marL="0" indent="0" algn="l">
              <a:buNone/>
              <a:defRPr sz="1600">
                <a:solidFill>
                  <a:schemeClr val="tx1"/>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26-05-26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cxnSp>
        <p:nvCxnSpPr>
          <p:cNvPr id="15" name="Straight Connector 14"/>
          <p:cNvCxnSpPr/>
          <p:nvPr/>
        </p:nvCxnSpPr>
        <p:spPr>
          <a:xfrm>
            <a:off x="1278469" y="3429000"/>
            <a:ext cx="6606421"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38200338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176865" y="2490135"/>
            <a:ext cx="6798736" cy="3385733"/>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26-05-26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cxnSp>
        <p:nvCxnSpPr>
          <p:cNvPr id="14" name="Straight Connector 13"/>
          <p:cNvCxnSpPr/>
          <p:nvPr/>
        </p:nvCxnSpPr>
        <p:spPr>
          <a:xfrm>
            <a:off x="1278466" y="2354670"/>
            <a:ext cx="6606424"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06162259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356667" y="906873"/>
            <a:ext cx="1618930" cy="4968995"/>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76867" y="906873"/>
            <a:ext cx="4915509" cy="4968993"/>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26-05-26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cxnSp>
        <p:nvCxnSpPr>
          <p:cNvPr id="14" name="Straight Connector 13"/>
          <p:cNvCxnSpPr/>
          <p:nvPr/>
        </p:nvCxnSpPr>
        <p:spPr>
          <a:xfrm>
            <a:off x="6245512" y="906873"/>
            <a:ext cx="0" cy="4968993"/>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22170380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3.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7" name="Group 6"/>
          <p:cNvGrpSpPr/>
          <p:nvPr/>
        </p:nvGrpSpPr>
        <p:grpSpPr>
          <a:xfrm>
            <a:off x="0" y="0"/>
            <a:ext cx="9152467" cy="6858000"/>
            <a:chOff x="0" y="0"/>
            <a:chExt cx="9152467" cy="6858000"/>
          </a:xfrm>
        </p:grpSpPr>
        <p:pic>
          <p:nvPicPr>
            <p:cNvPr id="8" name="Picture 7" descr="SD-PanelContent.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9" name="Rectangle 8"/>
            <p:cNvSpPr/>
            <p:nvPr/>
          </p:nvSpPr>
          <p:spPr>
            <a:xfrm>
              <a:off x="553888" y="542807"/>
              <a:ext cx="8039776" cy="5756392"/>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0" name="Picture 9"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l="1" r="14240"/>
            <a:stretch/>
          </p:blipFill>
          <p:spPr>
            <a:xfrm>
              <a:off x="0" y="3128434"/>
              <a:ext cx="685800" cy="606425"/>
            </a:xfrm>
            <a:prstGeom prst="rect">
              <a:avLst/>
            </a:prstGeom>
          </p:spPr>
        </p:pic>
        <p:pic>
          <p:nvPicPr>
            <p:cNvPr id="11" name="Picture 10"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l="1" r="14240"/>
            <a:stretch/>
          </p:blipFill>
          <p:spPr>
            <a:xfrm>
              <a:off x="8466667" y="3128434"/>
              <a:ext cx="685800" cy="606425"/>
            </a:xfrm>
            <a:prstGeom prst="rect">
              <a:avLst/>
            </a:prstGeom>
          </p:spPr>
        </p:pic>
      </p:grpSp>
      <p:sp>
        <p:nvSpPr>
          <p:cNvPr id="2" name="Title Placeholder 1"/>
          <p:cNvSpPr>
            <a:spLocks noGrp="1"/>
          </p:cNvSpPr>
          <p:nvPr>
            <p:ph type="title"/>
          </p:nvPr>
        </p:nvSpPr>
        <p:spPr>
          <a:xfrm>
            <a:off x="1176866" y="915337"/>
            <a:ext cx="6798734" cy="13038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176865" y="2490135"/>
            <a:ext cx="6798736" cy="3444997"/>
          </a:xfrm>
          <a:prstGeom prst="rect">
            <a:avLst/>
          </a:prstGeom>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356670" y="5960533"/>
            <a:ext cx="1148283"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5BCAD085-E8A6-8845-BD4E-CB4CCA059FC4}" type="datetimeFigureOut">
              <a:rPr lang="en-US" smtClean="0"/>
              <a:t>26-05-26</a:t>
            </a:fld>
            <a:endParaRPr lang="en-US"/>
          </a:p>
        </p:txBody>
      </p:sp>
      <p:sp>
        <p:nvSpPr>
          <p:cNvPr id="5" name="Footer Placeholder 4"/>
          <p:cNvSpPr>
            <a:spLocks noGrp="1"/>
          </p:cNvSpPr>
          <p:nvPr>
            <p:ph type="ftr" sz="quarter" idx="3"/>
          </p:nvPr>
        </p:nvSpPr>
        <p:spPr>
          <a:xfrm>
            <a:off x="1176865" y="5960533"/>
            <a:ext cx="5104667"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a:p>
        </p:txBody>
      </p:sp>
      <p:sp>
        <p:nvSpPr>
          <p:cNvPr id="6" name="Slide Number Placeholder 5"/>
          <p:cNvSpPr>
            <a:spLocks noGrp="1"/>
          </p:cNvSpPr>
          <p:nvPr>
            <p:ph type="sldNum" sz="quarter" idx="4"/>
          </p:nvPr>
        </p:nvSpPr>
        <p:spPr>
          <a:xfrm>
            <a:off x="7580091" y="5960533"/>
            <a:ext cx="39551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89447895"/>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85" r:id="rId13"/>
    <p:sldLayoutId id="2147483686" r:id="rId14"/>
    <p:sldLayoutId id="2147483687" r:id="rId15"/>
    <p:sldLayoutId id="2147483688" r:id="rId16"/>
    <p:sldLayoutId id="2147483689" r:id="rId17"/>
  </p:sldLayoutIdLst>
  <p:txStyles>
    <p:titleStyle>
      <a:lvl1pPr algn="ctr" defTabSz="457200" rtl="0" eaLnBrk="1" latinLnBrk="0" hangingPunct="1">
        <a:spcBef>
          <a:spcPct val="0"/>
        </a:spcBef>
        <a:buNone/>
        <a:defRPr sz="40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IMDB Movies Analysis Using SQL</a:t>
            </a:r>
          </a:p>
        </p:txBody>
      </p:sp>
      <p:sp>
        <p:nvSpPr>
          <p:cNvPr id="4" name="TextBox 3"/>
          <p:cNvSpPr txBox="1"/>
          <p:nvPr/>
        </p:nvSpPr>
        <p:spPr>
          <a:xfrm>
            <a:off x="5651862" y="2747278"/>
            <a:ext cx="2687859" cy="369332"/>
          </a:xfrm>
          <a:prstGeom prst="rect">
            <a:avLst/>
          </a:prstGeom>
          <a:noFill/>
        </p:spPr>
        <p:txBody>
          <a:bodyPr wrap="square">
            <a:spAutoFit/>
          </a:bodyPr>
          <a:lstStyle/>
          <a:p>
            <a:r>
              <a:rPr lang="en-US" dirty="0">
                <a:latin typeface="Times New Roman" panose="02020603050405020304" pitchFamily="18" charset="0"/>
                <a:cs typeface="Times New Roman" panose="02020603050405020304" pitchFamily="18" charset="0"/>
              </a:rPr>
              <a:t>Created by: Shrusti N P</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dirty="0"/>
              <a:t>Project Objective</a:t>
            </a:r>
          </a:p>
        </p:txBody>
      </p:sp>
      <p:sp>
        <p:nvSpPr>
          <p:cNvPr id="4" name="TextBox 3"/>
          <p:cNvSpPr txBox="1"/>
          <p:nvPr/>
        </p:nvSpPr>
        <p:spPr>
          <a:xfrm>
            <a:off x="1432651" y="2534195"/>
            <a:ext cx="7315200" cy="2743200"/>
          </a:xfrm>
          <a:prstGeom prst="rect">
            <a:avLst/>
          </a:prstGeom>
          <a:noFill/>
        </p:spPr>
        <p:txBody>
          <a:bodyPr wrap="none">
            <a:spAutoFit/>
          </a:bodyPr>
          <a:lstStyle/>
          <a:p>
            <a:r>
              <a:rPr dirty="0"/>
              <a:t>• Analyze IMDB movie database using SQL</a:t>
            </a:r>
          </a:p>
          <a:p>
            <a:r>
              <a:rPr dirty="0"/>
              <a:t>• Perform data retrieval and analysis</a:t>
            </a:r>
          </a:p>
          <a:p>
            <a:r>
              <a:rPr dirty="0"/>
              <a:t>• Understand joins, filtering, aggregation, and sorting</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dirty="0"/>
              <a:t>Tools &amp; Technologies Used</a:t>
            </a:r>
          </a:p>
        </p:txBody>
      </p:sp>
      <p:sp>
        <p:nvSpPr>
          <p:cNvPr id="4" name="TextBox 3"/>
          <p:cNvSpPr txBox="1"/>
          <p:nvPr/>
        </p:nvSpPr>
        <p:spPr>
          <a:xfrm>
            <a:off x="1262743" y="2656115"/>
            <a:ext cx="7315200" cy="2743200"/>
          </a:xfrm>
          <a:prstGeom prst="rect">
            <a:avLst/>
          </a:prstGeom>
          <a:noFill/>
        </p:spPr>
        <p:txBody>
          <a:bodyPr wrap="none">
            <a:spAutoFit/>
          </a:bodyPr>
          <a:lstStyle/>
          <a:p>
            <a:r>
              <a:rPr dirty="0"/>
              <a:t>• MySQL</a:t>
            </a:r>
          </a:p>
          <a:p>
            <a:r>
              <a:rPr dirty="0"/>
              <a:t>• MySQL Workbench</a:t>
            </a:r>
          </a:p>
          <a:p>
            <a:r>
              <a:rPr dirty="0"/>
              <a:t>• SQL Queries</a:t>
            </a:r>
          </a:p>
          <a:p>
            <a:r>
              <a:rPr dirty="0"/>
              <a:t>• Database Analysis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dirty="0"/>
              <a:t>Database Information</a:t>
            </a:r>
          </a:p>
        </p:txBody>
      </p:sp>
      <p:sp>
        <p:nvSpPr>
          <p:cNvPr id="4" name="TextBox 3"/>
          <p:cNvSpPr txBox="1"/>
          <p:nvPr/>
        </p:nvSpPr>
        <p:spPr>
          <a:xfrm>
            <a:off x="1341120" y="2595154"/>
            <a:ext cx="7315200" cy="2743200"/>
          </a:xfrm>
          <a:prstGeom prst="rect">
            <a:avLst/>
          </a:prstGeom>
          <a:noFill/>
        </p:spPr>
        <p:txBody>
          <a:bodyPr wrap="none">
            <a:spAutoFit/>
          </a:bodyPr>
          <a:lstStyle/>
          <a:p>
            <a:r>
              <a:rPr dirty="0"/>
              <a:t>Database Name: </a:t>
            </a:r>
            <a:r>
              <a:rPr dirty="0" err="1"/>
              <a:t>project_movie_database</a:t>
            </a:r>
            <a:endParaRPr dirty="0"/>
          </a:p>
          <a:p>
            <a:endParaRPr dirty="0"/>
          </a:p>
          <a:p>
            <a:r>
              <a:rPr dirty="0"/>
              <a:t>Tables Used:</a:t>
            </a:r>
          </a:p>
          <a:p>
            <a:r>
              <a:rPr dirty="0"/>
              <a:t>• directors</a:t>
            </a:r>
          </a:p>
          <a:p>
            <a:r>
              <a:rPr dirty="0"/>
              <a:t>• movies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dirty="0"/>
              <a:t>Directors Table Structure</a:t>
            </a:r>
          </a:p>
        </p:txBody>
      </p:sp>
      <p:sp>
        <p:nvSpPr>
          <p:cNvPr id="4" name="TextBox 3"/>
          <p:cNvSpPr txBox="1"/>
          <p:nvPr/>
        </p:nvSpPr>
        <p:spPr>
          <a:xfrm>
            <a:off x="1402080" y="2577737"/>
            <a:ext cx="7315200" cy="2743200"/>
          </a:xfrm>
          <a:prstGeom prst="rect">
            <a:avLst/>
          </a:prstGeom>
          <a:noFill/>
        </p:spPr>
        <p:txBody>
          <a:bodyPr wrap="none">
            <a:spAutoFit/>
          </a:bodyPr>
          <a:lstStyle/>
          <a:p>
            <a:r>
              <a:rPr dirty="0"/>
              <a:t>Columns:</a:t>
            </a:r>
          </a:p>
          <a:p>
            <a:r>
              <a:rPr dirty="0"/>
              <a:t>• id</a:t>
            </a:r>
          </a:p>
          <a:p>
            <a:r>
              <a:rPr dirty="0"/>
              <a:t>• name</a:t>
            </a:r>
          </a:p>
          <a:p>
            <a:r>
              <a:rPr dirty="0"/>
              <a:t>• gender</a:t>
            </a:r>
          </a:p>
          <a:p>
            <a:r>
              <a:rPr dirty="0"/>
              <a:t>• </a:t>
            </a:r>
            <a:r>
              <a:rPr dirty="0" err="1"/>
              <a:t>uid</a:t>
            </a:r>
            <a:endParaRPr dirty="0"/>
          </a:p>
          <a:p>
            <a:r>
              <a:rPr dirty="0"/>
              <a:t>• department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dirty="0"/>
              <a:t>Movies Table Structure</a:t>
            </a:r>
          </a:p>
        </p:txBody>
      </p:sp>
      <p:sp>
        <p:nvSpPr>
          <p:cNvPr id="4" name="TextBox 3"/>
          <p:cNvSpPr txBox="1"/>
          <p:nvPr/>
        </p:nvSpPr>
        <p:spPr>
          <a:xfrm>
            <a:off x="1332411" y="2595154"/>
            <a:ext cx="7315200" cy="2743200"/>
          </a:xfrm>
          <a:prstGeom prst="rect">
            <a:avLst/>
          </a:prstGeom>
          <a:noFill/>
        </p:spPr>
        <p:txBody>
          <a:bodyPr wrap="none">
            <a:spAutoFit/>
          </a:bodyPr>
          <a:lstStyle/>
          <a:p>
            <a:r>
              <a:rPr dirty="0"/>
              <a:t>Columns:</a:t>
            </a:r>
          </a:p>
          <a:p>
            <a:r>
              <a:rPr dirty="0"/>
              <a:t>• id</a:t>
            </a:r>
          </a:p>
          <a:p>
            <a:r>
              <a:rPr dirty="0"/>
              <a:t>• </a:t>
            </a:r>
            <a:r>
              <a:rPr dirty="0" err="1"/>
              <a:t>original_title</a:t>
            </a:r>
            <a:endParaRPr dirty="0"/>
          </a:p>
          <a:p>
            <a:r>
              <a:rPr dirty="0"/>
              <a:t>• budget</a:t>
            </a:r>
          </a:p>
          <a:p>
            <a:r>
              <a:rPr dirty="0"/>
              <a:t>• popularity</a:t>
            </a:r>
          </a:p>
          <a:p>
            <a:r>
              <a:rPr dirty="0"/>
              <a:t>• revenue</a:t>
            </a:r>
          </a:p>
          <a:p>
            <a:r>
              <a:rPr dirty="0"/>
              <a:t>• </a:t>
            </a:r>
            <a:r>
              <a:rPr dirty="0" err="1"/>
              <a:t>vote_average</a:t>
            </a:r>
            <a:endParaRPr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dirty="0"/>
              <a:t>Queries 1 &amp; 2</a:t>
            </a:r>
          </a:p>
        </p:txBody>
      </p:sp>
      <p:sp>
        <p:nvSpPr>
          <p:cNvPr id="4" name="TextBox 3"/>
          <p:cNvSpPr txBox="1"/>
          <p:nvPr/>
        </p:nvSpPr>
        <p:spPr>
          <a:xfrm>
            <a:off x="1245326" y="2464526"/>
            <a:ext cx="6730274" cy="923330"/>
          </a:xfrm>
          <a:prstGeom prst="rect">
            <a:avLst/>
          </a:prstGeom>
          <a:noFill/>
        </p:spPr>
        <p:txBody>
          <a:bodyPr wrap="square">
            <a:spAutoFit/>
          </a:bodyPr>
          <a:lstStyle/>
          <a:p>
            <a:r>
              <a:rPr dirty="0"/>
              <a:t>SELECT * FROM movies;</a:t>
            </a:r>
          </a:p>
          <a:p>
            <a:endParaRPr dirty="0"/>
          </a:p>
          <a:p>
            <a:r>
              <a:rPr dirty="0"/>
              <a:t>SELECT * FROM directors;</a:t>
            </a:r>
          </a:p>
        </p:txBody>
      </p:sp>
      <p:pic>
        <p:nvPicPr>
          <p:cNvPr id="6" name="Picture 5">
            <a:extLst>
              <a:ext uri="{FF2B5EF4-FFF2-40B4-BE49-F238E27FC236}">
                <a16:creationId xmlns:a16="http://schemas.microsoft.com/office/drawing/2014/main" id="{C3DE80C1-4190-BE7C-7B64-C90E5626DFA1}"/>
              </a:ext>
            </a:extLst>
          </p:cNvPr>
          <p:cNvPicPr>
            <a:picLocks noChangeAspect="1"/>
          </p:cNvPicPr>
          <p:nvPr/>
        </p:nvPicPr>
        <p:blipFill>
          <a:blip r:embed="rId2"/>
          <a:stretch>
            <a:fillRect/>
          </a:stretch>
        </p:blipFill>
        <p:spPr>
          <a:xfrm>
            <a:off x="1176866" y="3470145"/>
            <a:ext cx="6798734" cy="2392492"/>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dirty="0"/>
              <a:t>Count Total Movies</a:t>
            </a:r>
          </a:p>
        </p:txBody>
      </p:sp>
      <p:sp>
        <p:nvSpPr>
          <p:cNvPr id="4" name="TextBox 3"/>
          <p:cNvSpPr txBox="1"/>
          <p:nvPr/>
        </p:nvSpPr>
        <p:spPr>
          <a:xfrm>
            <a:off x="1176866" y="2473235"/>
            <a:ext cx="6721808" cy="646331"/>
          </a:xfrm>
          <a:prstGeom prst="rect">
            <a:avLst/>
          </a:prstGeom>
          <a:noFill/>
        </p:spPr>
        <p:txBody>
          <a:bodyPr wrap="square">
            <a:spAutoFit/>
          </a:bodyPr>
          <a:lstStyle/>
          <a:p>
            <a:r>
              <a:rPr dirty="0"/>
              <a:t>SELECT COUNT(*) AS </a:t>
            </a:r>
            <a:r>
              <a:rPr dirty="0" err="1"/>
              <a:t>total_movies</a:t>
            </a:r>
            <a:endParaRPr dirty="0"/>
          </a:p>
          <a:p>
            <a:r>
              <a:rPr dirty="0"/>
              <a:t>FROM movies;</a:t>
            </a:r>
          </a:p>
        </p:txBody>
      </p:sp>
      <p:pic>
        <p:nvPicPr>
          <p:cNvPr id="8" name="Picture 7">
            <a:extLst>
              <a:ext uri="{FF2B5EF4-FFF2-40B4-BE49-F238E27FC236}">
                <a16:creationId xmlns:a16="http://schemas.microsoft.com/office/drawing/2014/main" id="{B5EAAC95-39ED-CE0D-8F82-85C3ED85A0C4}"/>
              </a:ext>
            </a:extLst>
          </p:cNvPr>
          <p:cNvPicPr>
            <a:picLocks noChangeAspect="1"/>
          </p:cNvPicPr>
          <p:nvPr/>
        </p:nvPicPr>
        <p:blipFill>
          <a:blip r:embed="rId2"/>
          <a:stretch>
            <a:fillRect/>
          </a:stretch>
        </p:blipFill>
        <p:spPr>
          <a:xfrm>
            <a:off x="1245326" y="3119566"/>
            <a:ext cx="6653348" cy="2743071"/>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dirty="0"/>
              <a:t>Director Filtering Queries</a:t>
            </a:r>
          </a:p>
        </p:txBody>
      </p:sp>
      <p:sp>
        <p:nvSpPr>
          <p:cNvPr id="4" name="TextBox 3"/>
          <p:cNvSpPr txBox="1"/>
          <p:nvPr/>
        </p:nvSpPr>
        <p:spPr>
          <a:xfrm>
            <a:off x="1176866" y="2429691"/>
            <a:ext cx="6617305" cy="923330"/>
          </a:xfrm>
          <a:prstGeom prst="rect">
            <a:avLst/>
          </a:prstGeom>
          <a:noFill/>
        </p:spPr>
        <p:txBody>
          <a:bodyPr wrap="square">
            <a:spAutoFit/>
          </a:bodyPr>
          <a:lstStyle/>
          <a:p>
            <a:r>
              <a:rPr dirty="0"/>
              <a:t>• Find James Cameron</a:t>
            </a:r>
          </a:p>
          <a:p>
            <a:r>
              <a:rPr dirty="0"/>
              <a:t>• Find names starting with S</a:t>
            </a:r>
          </a:p>
          <a:p>
            <a:r>
              <a:rPr dirty="0"/>
              <a:t>• Count female directors</a:t>
            </a:r>
          </a:p>
        </p:txBody>
      </p:sp>
      <p:pic>
        <p:nvPicPr>
          <p:cNvPr id="12" name="Picture 11">
            <a:extLst>
              <a:ext uri="{FF2B5EF4-FFF2-40B4-BE49-F238E27FC236}">
                <a16:creationId xmlns:a16="http://schemas.microsoft.com/office/drawing/2014/main" id="{9E322EF1-F2D0-AEFA-291B-F74AA94B981C}"/>
              </a:ext>
            </a:extLst>
          </p:cNvPr>
          <p:cNvPicPr>
            <a:picLocks noChangeAspect="1"/>
          </p:cNvPicPr>
          <p:nvPr/>
        </p:nvPicPr>
        <p:blipFill>
          <a:blip r:embed="rId2"/>
          <a:stretch>
            <a:fillRect/>
          </a:stretch>
        </p:blipFill>
        <p:spPr>
          <a:xfrm>
            <a:off x="1176866" y="3353021"/>
            <a:ext cx="6713100" cy="267331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dirty="0"/>
              <a:t>Popular &amp; Bankable Movies</a:t>
            </a:r>
          </a:p>
        </p:txBody>
      </p:sp>
      <p:sp>
        <p:nvSpPr>
          <p:cNvPr id="4" name="TextBox 3"/>
          <p:cNvSpPr txBox="1"/>
          <p:nvPr/>
        </p:nvSpPr>
        <p:spPr>
          <a:xfrm>
            <a:off x="1176866" y="2403566"/>
            <a:ext cx="6686974" cy="646331"/>
          </a:xfrm>
          <a:prstGeom prst="rect">
            <a:avLst/>
          </a:prstGeom>
          <a:noFill/>
        </p:spPr>
        <p:txBody>
          <a:bodyPr wrap="square">
            <a:spAutoFit/>
          </a:bodyPr>
          <a:lstStyle/>
          <a:p>
            <a:r>
              <a:rPr dirty="0"/>
              <a:t>• Top 3 popular movies</a:t>
            </a:r>
          </a:p>
          <a:p>
            <a:r>
              <a:rPr dirty="0"/>
              <a:t>• Top 3 profitable movies</a:t>
            </a:r>
          </a:p>
        </p:txBody>
      </p:sp>
      <p:pic>
        <p:nvPicPr>
          <p:cNvPr id="8" name="Picture 7">
            <a:extLst>
              <a:ext uri="{FF2B5EF4-FFF2-40B4-BE49-F238E27FC236}">
                <a16:creationId xmlns:a16="http://schemas.microsoft.com/office/drawing/2014/main" id="{87BB7D98-6936-FFA4-6BFF-BC523A7CC433}"/>
              </a:ext>
            </a:extLst>
          </p:cNvPr>
          <p:cNvPicPr>
            <a:picLocks noChangeAspect="1"/>
          </p:cNvPicPr>
          <p:nvPr/>
        </p:nvPicPr>
        <p:blipFill>
          <a:blip r:embed="rId2"/>
          <a:stretch>
            <a:fillRect/>
          </a:stretch>
        </p:blipFill>
        <p:spPr>
          <a:xfrm>
            <a:off x="1280160" y="3234258"/>
            <a:ext cx="6505303" cy="2800781"/>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dirty="0"/>
              <a:t>JOIN Operations</a:t>
            </a:r>
          </a:p>
        </p:txBody>
      </p:sp>
      <p:sp>
        <p:nvSpPr>
          <p:cNvPr id="4" name="TextBox 3"/>
          <p:cNvSpPr txBox="1"/>
          <p:nvPr/>
        </p:nvSpPr>
        <p:spPr>
          <a:xfrm>
            <a:off x="1176866" y="2377440"/>
            <a:ext cx="7315200" cy="2743200"/>
          </a:xfrm>
          <a:prstGeom prst="rect">
            <a:avLst/>
          </a:prstGeom>
          <a:noFill/>
        </p:spPr>
        <p:txBody>
          <a:bodyPr wrap="none">
            <a:spAutoFit/>
          </a:bodyPr>
          <a:lstStyle/>
          <a:p>
            <a:r>
              <a:rPr dirty="0"/>
              <a:t>Movies directed by Brenda Chapman</a:t>
            </a:r>
          </a:p>
          <a:p>
            <a:endParaRPr dirty="0"/>
          </a:p>
          <a:p>
            <a:r>
              <a:rPr dirty="0"/>
              <a:t>No matching movie records found.</a:t>
            </a:r>
          </a:p>
        </p:txBody>
      </p:sp>
      <p:pic>
        <p:nvPicPr>
          <p:cNvPr id="6" name="Picture 5">
            <a:extLst>
              <a:ext uri="{FF2B5EF4-FFF2-40B4-BE49-F238E27FC236}">
                <a16:creationId xmlns:a16="http://schemas.microsoft.com/office/drawing/2014/main" id="{0551AAA4-19B5-CD18-B02F-BE4AD1392251}"/>
              </a:ext>
            </a:extLst>
          </p:cNvPr>
          <p:cNvPicPr>
            <a:picLocks noChangeAspect="1"/>
          </p:cNvPicPr>
          <p:nvPr/>
        </p:nvPicPr>
        <p:blipFill>
          <a:blip r:embed="rId2"/>
          <a:stretch>
            <a:fillRect/>
          </a:stretch>
        </p:blipFill>
        <p:spPr>
          <a:xfrm>
            <a:off x="1254034" y="3326674"/>
            <a:ext cx="6635932" cy="27432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dirty="0"/>
              <a:t>Most Successful Director</a:t>
            </a:r>
          </a:p>
        </p:txBody>
      </p:sp>
      <p:sp>
        <p:nvSpPr>
          <p:cNvPr id="4" name="TextBox 3"/>
          <p:cNvSpPr txBox="1"/>
          <p:nvPr/>
        </p:nvSpPr>
        <p:spPr>
          <a:xfrm>
            <a:off x="1176866" y="2490651"/>
            <a:ext cx="6669557" cy="646331"/>
          </a:xfrm>
          <a:prstGeom prst="rect">
            <a:avLst/>
          </a:prstGeom>
          <a:noFill/>
        </p:spPr>
        <p:txBody>
          <a:bodyPr wrap="square">
            <a:spAutoFit/>
          </a:bodyPr>
          <a:lstStyle/>
          <a:p>
            <a:r>
              <a:rPr dirty="0"/>
              <a:t>• Director with most movies</a:t>
            </a:r>
          </a:p>
          <a:p>
            <a:r>
              <a:rPr dirty="0"/>
              <a:t>• Most bankable director</a:t>
            </a:r>
          </a:p>
        </p:txBody>
      </p:sp>
      <p:pic>
        <p:nvPicPr>
          <p:cNvPr id="6" name="Picture 5">
            <a:extLst>
              <a:ext uri="{FF2B5EF4-FFF2-40B4-BE49-F238E27FC236}">
                <a16:creationId xmlns:a16="http://schemas.microsoft.com/office/drawing/2014/main" id="{17A0B8FA-E534-5ED5-AA0D-BA0F55AFF32B}"/>
              </a:ext>
            </a:extLst>
          </p:cNvPr>
          <p:cNvPicPr>
            <a:picLocks noChangeAspect="1"/>
          </p:cNvPicPr>
          <p:nvPr/>
        </p:nvPicPr>
        <p:blipFill>
          <a:blip r:embed="rId2"/>
          <a:stretch>
            <a:fillRect/>
          </a:stretch>
        </p:blipFill>
        <p:spPr>
          <a:xfrm>
            <a:off x="1297577" y="3283130"/>
            <a:ext cx="6669558" cy="2778035"/>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dirty="0"/>
              <a:t>Key SQL Concepts Used</a:t>
            </a:r>
          </a:p>
        </p:txBody>
      </p:sp>
      <p:sp>
        <p:nvSpPr>
          <p:cNvPr id="4" name="TextBox 3"/>
          <p:cNvSpPr txBox="1"/>
          <p:nvPr/>
        </p:nvSpPr>
        <p:spPr>
          <a:xfrm>
            <a:off x="1186783" y="2647405"/>
            <a:ext cx="7315200" cy="2743200"/>
          </a:xfrm>
          <a:prstGeom prst="rect">
            <a:avLst/>
          </a:prstGeom>
          <a:noFill/>
        </p:spPr>
        <p:txBody>
          <a:bodyPr wrap="none">
            <a:spAutoFit/>
          </a:bodyPr>
          <a:lstStyle/>
          <a:p>
            <a:r>
              <a:rPr dirty="0"/>
              <a:t>• SELECT</a:t>
            </a:r>
          </a:p>
          <a:p>
            <a:r>
              <a:rPr dirty="0"/>
              <a:t>• WHERE</a:t>
            </a:r>
          </a:p>
          <a:p>
            <a:r>
              <a:rPr dirty="0"/>
              <a:t>• JOIN</a:t>
            </a:r>
          </a:p>
          <a:p>
            <a:r>
              <a:rPr dirty="0"/>
              <a:t>• GROUP BY</a:t>
            </a:r>
          </a:p>
          <a:p>
            <a:r>
              <a:rPr dirty="0"/>
              <a:t>• ORDER BY</a:t>
            </a:r>
          </a:p>
          <a:p>
            <a:r>
              <a:rPr dirty="0"/>
              <a:t>• COUNT</a:t>
            </a:r>
          </a:p>
          <a:p>
            <a:r>
              <a:rPr dirty="0"/>
              <a:t>• SUM</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dirty="0"/>
              <a:t>Challenges Faced</a:t>
            </a:r>
          </a:p>
        </p:txBody>
      </p:sp>
      <p:sp>
        <p:nvSpPr>
          <p:cNvPr id="3" name="Content Placeholder 2"/>
          <p:cNvSpPr>
            <a:spLocks noGrp="1"/>
          </p:cNvSpPr>
          <p:nvPr>
            <p:ph idx="1"/>
          </p:nvPr>
        </p:nvSpPr>
        <p:spPr/>
        <p:txBody>
          <a:bodyPr/>
          <a:lstStyle/>
          <a:p>
            <a:r>
              <a:rPr lang="en-IN" dirty="0"/>
              <a:t>Understanding Database Relationships</a:t>
            </a:r>
          </a:p>
          <a:p>
            <a:r>
              <a:rPr lang="en-US" dirty="0"/>
              <a:t>Handling NULL and Empty Results</a:t>
            </a:r>
          </a:p>
          <a:p>
            <a:r>
              <a:rPr lang="en-IN" dirty="0"/>
              <a:t>Writing Complex SQL Queries</a:t>
            </a:r>
          </a:p>
          <a:p>
            <a:r>
              <a:rPr lang="en-IN" dirty="0"/>
              <a:t>Identifying Correct Columns</a:t>
            </a:r>
          </a:p>
          <a:p>
            <a:r>
              <a:rPr lang="en-IN" dirty="0"/>
              <a:t>Working with Large Datasets</a:t>
            </a:r>
          </a:p>
          <a:p>
            <a:r>
              <a:rPr lang="en-IN" dirty="0"/>
              <a:t>Data Analysis and Interpretation</a:t>
            </a:r>
            <a:endParaRPr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dirty="0"/>
              <a:t>Conclusion</a:t>
            </a:r>
          </a:p>
        </p:txBody>
      </p:sp>
      <p:sp>
        <p:nvSpPr>
          <p:cNvPr id="4" name="TextBox 3"/>
          <p:cNvSpPr txBox="1"/>
          <p:nvPr/>
        </p:nvSpPr>
        <p:spPr>
          <a:xfrm>
            <a:off x="1176867" y="2664823"/>
            <a:ext cx="6694145" cy="1754326"/>
          </a:xfrm>
          <a:prstGeom prst="rect">
            <a:avLst/>
          </a:prstGeom>
          <a:noFill/>
        </p:spPr>
        <p:txBody>
          <a:bodyPr wrap="square">
            <a:spAutoFit/>
          </a:bodyPr>
          <a:lstStyle/>
          <a:p>
            <a:r>
              <a:rPr lang="en-US" dirty="0"/>
              <a:t>This project provided practical experience in using SQL for real-world database analysis. By working with the IMDB movie database, important SQL concepts such as SELECT, WHERE, JOIN, GROUP BY, ORDER BY, COUNT, and SUM were successfully implemented. The project improved understanding of relational databases, data retrieval techniques, and analytical problem-solving skills.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3446424" y="3429000"/>
            <a:ext cx="2396425" cy="523220"/>
          </a:xfrm>
          <a:prstGeom prst="rect">
            <a:avLst/>
          </a:prstGeom>
          <a:noFill/>
        </p:spPr>
        <p:txBody>
          <a:bodyPr wrap="none">
            <a:spAutoFit/>
          </a:bodyPr>
          <a:lstStyle/>
          <a:p>
            <a:r>
              <a:rPr sz="2800" b="1" dirty="0"/>
              <a:t>THANK YOU</a:t>
            </a:r>
          </a:p>
        </p:txBody>
      </p:sp>
    </p:spTree>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Organic">
  <a:themeElements>
    <a:clrScheme name="Organic">
      <a:dk1>
        <a:sysClr val="windowText" lastClr="000000"/>
      </a:dk1>
      <a:lt1>
        <a:sysClr val="window" lastClr="FFFFFF"/>
      </a:lt1>
      <a:dk2>
        <a:srgbClr val="212121"/>
      </a:dk2>
      <a:lt2>
        <a:srgbClr val="DADADA"/>
      </a:lt2>
      <a:accent1>
        <a:srgbClr val="83992A"/>
      </a:accent1>
      <a:accent2>
        <a:srgbClr val="3C9770"/>
      </a:accent2>
      <a:accent3>
        <a:srgbClr val="44709D"/>
      </a:accent3>
      <a:accent4>
        <a:srgbClr val="A23C33"/>
      </a:accent4>
      <a:accent5>
        <a:srgbClr val="D97828"/>
      </a:accent5>
      <a:accent6>
        <a:srgbClr val="DEB340"/>
      </a:accent6>
      <a:hlink>
        <a:srgbClr val="A8BF4D"/>
      </a:hlink>
      <a:folHlink>
        <a:srgbClr val="B4CA80"/>
      </a:folHlink>
    </a:clrScheme>
    <a:fontScheme name="Organic">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rotWithShape="1">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rnd" cmpd="sng" algn="ctr">
          <a:solidFill>
            <a:schemeClr val="ph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Organic" id="{28CDC826-8792-45C0-861B-85EB3ADEDA33}" vid="{7DAC20F1-423D-49E2-BD0B-50532748BAD0}"/>
    </a:ext>
  </a:extLst>
</a:theme>
</file>

<file path=docProps/app.xml><?xml version="1.0" encoding="utf-8"?>
<Properties xmlns="http://schemas.openxmlformats.org/officeDocument/2006/extended-properties" xmlns:vt="http://schemas.openxmlformats.org/officeDocument/2006/docPropsVTypes">
  <Template>Organic</Template>
  <TotalTime>15</TotalTime>
  <Words>298</Words>
  <Application>Microsoft Office PowerPoint</Application>
  <PresentationFormat>On-screen Show (4:3)</PresentationFormat>
  <Paragraphs>71</Paragraphs>
  <Slides>16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Arial</vt:lpstr>
      <vt:lpstr>Garamond</vt:lpstr>
      <vt:lpstr>Times New Roman</vt:lpstr>
      <vt:lpstr>Organic</vt:lpstr>
      <vt:lpstr>IMDB Movies Analysis Using SQL</vt:lpstr>
      <vt:lpstr>Project Objective</vt:lpstr>
      <vt:lpstr>Tools &amp; Technologies Used</vt:lpstr>
      <vt:lpstr>Database Information</vt:lpstr>
      <vt:lpstr>Directors Table Structure</vt:lpstr>
      <vt:lpstr>Movies Table Structure</vt:lpstr>
      <vt:lpstr>Queries 1 &amp; 2</vt:lpstr>
      <vt:lpstr>Count Total Movies</vt:lpstr>
      <vt:lpstr>Director Filtering Queries</vt:lpstr>
      <vt:lpstr>Popular &amp; Bankable Movies</vt:lpstr>
      <vt:lpstr>JOIN Operations</vt:lpstr>
      <vt:lpstr>Most Successful Director</vt:lpstr>
      <vt:lpstr>Key SQL Concepts Used</vt:lpstr>
      <vt:lpstr>Challenges Faced</vt:lpstr>
      <vt:lpstr>Conclusion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Shrusti N P</cp:lastModifiedBy>
  <cp:revision>2</cp:revision>
  <dcterms:created xsi:type="dcterms:W3CDTF">2013-01-27T09:14:16Z</dcterms:created>
  <dcterms:modified xsi:type="dcterms:W3CDTF">2026-05-26T14:47:40Z</dcterms:modified>
  <cp:category/>
</cp:coreProperties>
</file>